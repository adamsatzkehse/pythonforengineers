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5" r:id="rId3"/>
    <p:sldId id="322" r:id="rId4"/>
    <p:sldId id="292" r:id="rId5"/>
    <p:sldId id="291" r:id="rId6"/>
    <p:sldId id="323" r:id="rId7"/>
    <p:sldId id="258" r:id="rId8"/>
    <p:sldId id="308" r:id="rId9"/>
    <p:sldId id="309" r:id="rId10"/>
    <p:sldId id="310" r:id="rId11"/>
    <p:sldId id="324" r:id="rId12"/>
    <p:sldId id="320" r:id="rId13"/>
    <p:sldId id="321" r:id="rId1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rt" id="{A7897956-181F-490C-A71A-0E8096BB1B84}">
          <p14:sldIdLst>
            <p14:sldId id="256"/>
            <p14:sldId id="265"/>
            <p14:sldId id="322"/>
            <p14:sldId id="292"/>
            <p14:sldId id="291"/>
          </p14:sldIdLst>
        </p14:section>
        <p14:section name="Inhalt" id="{B0A30983-8E44-4AD0-A470-3477000F5D80}">
          <p14:sldIdLst>
            <p14:sldId id="323"/>
            <p14:sldId id="258"/>
            <p14:sldId id="308"/>
            <p14:sldId id="309"/>
            <p14:sldId id="310"/>
            <p14:sldId id="324"/>
          </p14:sldIdLst>
        </p14:section>
        <p14:section name="Setup" id="{DC1C0BC3-91D8-4015-ABE4-997929573CF4}">
          <p14:sldIdLst>
            <p14:sldId id="320"/>
            <p14:sldId id="32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Helle Formatvorlage 1 - Akz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Helle Formatvorlage 3 - Akz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EC20E35-A176-4012-BC5E-935CFFF8708E}" styleName="Mittlere Formatvorlag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Helle Formatvorlag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69012ECD-51FC-41F1-AA8D-1B2483CD663E}" styleName="Helle Formatvorlage 2 - Akz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382" autoAdjust="0"/>
    <p:restoredTop sz="94660"/>
  </p:normalViewPr>
  <p:slideViewPr>
    <p:cSldViewPr snapToGrid="0" showGuides="1">
      <p:cViewPr varScale="1">
        <p:scale>
          <a:sx n="95" d="100"/>
          <a:sy n="95" d="100"/>
        </p:scale>
        <p:origin x="1248" y="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B3A84-E086-478D-9160-3D6990EF79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371FFE5-128C-AA15-226B-CFF8152570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255F9CC-496E-CEF7-54FD-FEA8D87A21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62AAD62-411D-AE67-0BC9-24AB924BB8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F31CA8C-F8A3-51B3-9AE1-084AC1EAC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256596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F5E8B37-DD39-6EBD-9DDE-C39071CA1E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B4BCE2B-BA01-2851-2C79-77EEB51B95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FDE49FA-CD1F-098E-9A42-FF6417029A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5484979-2C75-83D0-4D16-9FE45FCEBE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1E7579-636C-82B9-7DBA-BC5E2B3F6E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86474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473007C-C327-51D3-47F0-4A0160804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8343884-2858-4239-FF71-E2D7E627C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BB4AFC8-07F4-5658-9773-FCAEA90CD6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C1CF1B-B748-CBE6-B5E0-3EBFDA103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901D53F-8DA8-0AA0-192A-F69155896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49045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687917-7E5E-A1C4-06C6-156134FD1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DC4DD0D-DDDE-BED0-7B14-C394EF33BC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09990E-E3A0-637C-AB4F-D180726EA0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AF55464-919B-1CCF-7FBA-7F513E17F1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F6A1884-AECB-6212-0AD9-8C930E6A4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78A821C-9CAD-8C1C-A671-5A8DDFD98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48547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A385D91-5D4E-3F5B-861D-7BF9705FE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E0661B0-29C3-D27B-E5C1-5124CB0731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452E465-D5A0-9569-37C6-8404CF394C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1C963F6C-E515-7237-AA91-C1E2F2717D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2F89E32-D99C-DF8A-B0CC-3E5E262993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473CFF73-11BC-039F-36D1-4CED0BD8B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7D49773-6C06-AB78-2BF9-1EB874DAE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102A8EF-45EF-3325-FC51-51813ABE78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0083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73903A-1E62-A7FB-4347-8CC78F37E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CD9E57A-F546-2B37-B79D-C6DB572D2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C928D46-CB5D-F765-ABBB-BF20FE357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A695758-2B33-C5E1-90C4-8581573D2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0417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40330D0-F603-E221-2D37-2F5D9F7B1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6A46BBA-DCBF-C85F-1B24-002FE046C0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F9301E-CD14-5E56-177F-D71A5439F1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445112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20E827-1DEB-F83D-5E12-18731969D0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549D37-CA63-C941-F456-44C646DD2F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B41BA85-3AA2-AF7F-9A4B-B49BF9C9D5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BF56A7C-0E1F-C84F-BB29-EBF52C7B3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03409C5-15B8-8C8B-041D-787A362B2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7477EE2-804D-05FC-4949-27FBAE31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99855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95CB5B-0958-DFB6-10F9-4AD1AFCFB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113DD08A-0D85-68F8-42AB-D4E3197B41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C3BF3837-CAA2-C340-62C3-6B48C43105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9FB2B77-EBEF-16C1-E396-1E6295C86D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DFA4E05-E143-69EB-5A92-93318BFC8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CD67AF7C-CA3D-65FE-8A36-7AC3B381B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156171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9FC94B-9411-FAAC-17A6-C036E4E89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035BF1BD-4572-6A64-0918-C02E824557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7A1D4E8-9C02-DA68-D5EE-BDBB8174B4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AEAB139-3962-349A-796A-3EA3A2744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667105D-9569-BE2E-506D-39F563D72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00367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7DAC8F2A-D1B2-F6FF-5A96-539EE356E2F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98D6ED3-2C47-AC6E-9156-03AA6E0FCC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AA20F39-C049-C910-8E50-7CDBD4718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827515D-B53A-E842-1A7A-FE42F65BB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48E7C8B-8B28-4368-ED66-BD49F5C3B2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95389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726997B9-8299-0E20-59D4-90D741FD4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F2C7746-B852-09A7-C6B3-CC20CFD31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4F8CEE8-9FA8-3E6D-2DCD-38E94059E8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AAC192-EEF0-4655-A5C2-10367E9D8034}" type="datetimeFigureOut">
              <a:rPr lang="de-DE" smtClean="0"/>
              <a:t>15.03.2026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4B51AE7-7BC8-F084-9490-94A8DAAB5D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53BAF79-D205-D53A-F462-F169F65BBD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3C0614-E82A-4771-B7C8-2A83C02B5A1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1711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8C790BE2-4E4F-4AAF-81A2-4A6F4885E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0"/>
            <a:ext cx="12191999" cy="6858000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</a:schemeClr>
              </a:gs>
              <a:gs pos="100000">
                <a:srgbClr val="000000"/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-4"/>
            <a:ext cx="12192000" cy="6402581"/>
          </a:xfrm>
          <a:prstGeom prst="rect">
            <a:avLst/>
          </a:prstGeom>
          <a:gradFill>
            <a:gsLst>
              <a:gs pos="1000">
                <a:schemeClr val="accent1">
                  <a:lumMod val="75000"/>
                  <a:alpha val="59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12088DD-B1AD-40E0-8B86-1D87A2CCD9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63054" y="-2653923"/>
            <a:ext cx="6858001" cy="12165846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rgbClr val="000000">
                  <a:alpha val="28000"/>
                </a:srgb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4763" y="0"/>
            <a:ext cx="6096001" cy="6858000"/>
          </a:xfrm>
          <a:prstGeom prst="rect">
            <a:avLst/>
          </a:prstGeom>
          <a:gradFill>
            <a:gsLst>
              <a:gs pos="13000">
                <a:schemeClr val="accent1">
                  <a:lumMod val="50000"/>
                  <a:alpha val="0"/>
                </a:schemeClr>
              </a:gs>
              <a:gs pos="99000">
                <a:schemeClr val="accent1">
                  <a:lumMod val="75000"/>
                  <a:alpha val="50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395952-4E26-45A2-8756-2ADFD6E53C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4" y="-3"/>
            <a:ext cx="12182871" cy="6871922"/>
          </a:xfrm>
          <a:prstGeom prst="rect">
            <a:avLst/>
          </a:prstGeom>
          <a:gradFill>
            <a:gsLst>
              <a:gs pos="13000">
                <a:srgbClr val="000000">
                  <a:alpha val="35000"/>
                </a:srgbClr>
              </a:gs>
              <a:gs pos="99000">
                <a:schemeClr val="accent1">
                  <a:lumMod val="75000"/>
                  <a:alpha val="0"/>
                </a:schemeClr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4734BADF-9461-4621-B112-2D7BABEA7D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87713" y="4049"/>
            <a:ext cx="10216576" cy="4729040"/>
          </a:xfrm>
          <a:custGeom>
            <a:avLst/>
            <a:gdLst>
              <a:gd name="connsiteX0" fmla="*/ 0 w 10216576"/>
              <a:gd name="connsiteY0" fmla="*/ 0 h 4729040"/>
              <a:gd name="connsiteX1" fmla="*/ 10216576 w 10216576"/>
              <a:gd name="connsiteY1" fmla="*/ 0 h 4729040"/>
              <a:gd name="connsiteX2" fmla="*/ 10210268 w 10216576"/>
              <a:gd name="connsiteY2" fmla="*/ 124944 h 4729040"/>
              <a:gd name="connsiteX3" fmla="*/ 5108288 w 10216576"/>
              <a:gd name="connsiteY3" fmla="*/ 4729040 h 4729040"/>
              <a:gd name="connsiteX4" fmla="*/ 6309 w 10216576"/>
              <a:gd name="connsiteY4" fmla="*/ 124944 h 47290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16576" h="4729040">
                <a:moveTo>
                  <a:pt x="0" y="0"/>
                </a:moveTo>
                <a:lnTo>
                  <a:pt x="10216576" y="0"/>
                </a:lnTo>
                <a:lnTo>
                  <a:pt x="10210268" y="124944"/>
                </a:lnTo>
                <a:cubicBezTo>
                  <a:pt x="9947637" y="2710997"/>
                  <a:pt x="7763635" y="4729040"/>
                  <a:pt x="5108288" y="4729040"/>
                </a:cubicBezTo>
                <a:cubicBezTo>
                  <a:pt x="2452942" y="4729040"/>
                  <a:pt x="268937" y="2710997"/>
                  <a:pt x="6309" y="124944"/>
                </a:cubicBezTo>
                <a:close/>
              </a:path>
            </a:pathLst>
          </a:custGeom>
          <a:gradFill>
            <a:gsLst>
              <a:gs pos="7000">
                <a:schemeClr val="accent1">
                  <a:lumMod val="50000"/>
                  <a:alpha val="4000"/>
                </a:schemeClr>
              </a:gs>
              <a:gs pos="99000">
                <a:schemeClr val="accent1">
                  <a:alpha val="24000"/>
                </a:schemeClr>
              </a:gs>
            </a:gsLst>
            <a:lin ang="10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6B8EE902-81EE-BE98-49D2-A0DB56523F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26693" y="1030406"/>
            <a:ext cx="8147713" cy="3081242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rgbClr val="FFFFFF"/>
                </a:solidFill>
              </a:rPr>
              <a:t>Python Design Patterns</a:t>
            </a:r>
            <a:endParaRPr lang="de-DE" sz="48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5761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CFC84C-B7AD-C065-6825-7116BDE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Euer</a:t>
            </a:r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Trainer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D03510-F717-B2A1-E5A0-AAA859489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Adam Matias Satzke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 err="1">
                <a:solidFill>
                  <a:schemeClr val="bg1"/>
                </a:solidFill>
              </a:rPr>
              <a:t>Elektrotechnik</a:t>
            </a:r>
            <a:r>
              <a:rPr lang="en-US" sz="2000" dirty="0">
                <a:solidFill>
                  <a:schemeClr val="bg1"/>
                </a:solidFill>
              </a:rPr>
              <a:t> </a:t>
            </a:r>
            <a:r>
              <a:rPr lang="en-US" sz="2000" dirty="0" err="1">
                <a:solidFill>
                  <a:schemeClr val="bg1"/>
                </a:solidFill>
              </a:rPr>
              <a:t>Ingenieur</a:t>
            </a:r>
            <a:r>
              <a:rPr lang="en-US" sz="2000" dirty="0">
                <a:solidFill>
                  <a:schemeClr val="bg1"/>
                </a:solidFill>
              </a:rPr>
              <a:t> – </a:t>
            </a:r>
            <a:r>
              <a:rPr lang="en-US" sz="2000" dirty="0" err="1">
                <a:solidFill>
                  <a:schemeClr val="bg1"/>
                </a:solidFill>
              </a:rPr>
              <a:t>Telekommunikationstechnik</a:t>
            </a:r>
            <a:r>
              <a:rPr lang="en-US" sz="2000" dirty="0">
                <a:solidFill>
                  <a:schemeClr val="bg1"/>
                </a:solidFill>
              </a:rPr>
              <a:t> (2019)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HF-</a:t>
            </a:r>
            <a:r>
              <a:rPr lang="en-US" sz="2000" dirty="0" err="1">
                <a:solidFill>
                  <a:schemeClr val="bg1"/>
                </a:solidFill>
              </a:rPr>
              <a:t>Testingenieur</a:t>
            </a:r>
            <a:r>
              <a:rPr lang="en-US" sz="2000" dirty="0">
                <a:solidFill>
                  <a:schemeClr val="bg1"/>
                </a:solidFill>
              </a:rPr>
              <a:t> (2019-2023)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Trainer – Coach (</a:t>
            </a:r>
            <a:r>
              <a:rPr lang="en-US" sz="2000" dirty="0" err="1">
                <a:solidFill>
                  <a:schemeClr val="bg1"/>
                </a:solidFill>
              </a:rPr>
              <a:t>seit</a:t>
            </a:r>
            <a:r>
              <a:rPr lang="en-US" sz="2000" dirty="0">
                <a:solidFill>
                  <a:schemeClr val="bg1"/>
                </a:solidFill>
              </a:rPr>
              <a:t> 2023)</a:t>
            </a: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ldplatzhalter 5" descr="Ein Bild, das Im Haus, Person, Wand, Computer enthält.&#10;&#10;Automatisch generierte Beschreibung">
            <a:extLst>
              <a:ext uri="{FF2B5EF4-FFF2-40B4-BE49-F238E27FC236}">
                <a16:creationId xmlns:a16="http://schemas.microsoft.com/office/drawing/2014/main" id="{D16B0BEC-090C-5776-342C-5979DCB72E8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9" t="43344" r="5558" b="20390"/>
          <a:stretch/>
        </p:blipFill>
        <p:spPr>
          <a:xfrm>
            <a:off x="7345680" y="2235210"/>
            <a:ext cx="3139440" cy="274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96132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CACFC84C-B7AD-C065-6825-7116BDEE22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8721"/>
            <a:ext cx="4707671" cy="122565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Euer</a:t>
            </a:r>
            <a:r>
              <a:rPr lang="en-US" sz="38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 Trainer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A38897-7BA3-4408-8083-3235339C4A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1873" y="1749756"/>
            <a:ext cx="4718304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1D03510-F717-B2A1-E5A0-AAA8594891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97769" y="1909192"/>
            <a:ext cx="4586513" cy="3647710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bg1"/>
                </a:solidFill>
              </a:rPr>
              <a:t>Hardware </a:t>
            </a:r>
            <a:r>
              <a:rPr lang="de-DE" sz="2000" dirty="0">
                <a:solidFill>
                  <a:schemeClr val="bg1"/>
                </a:solidFill>
              </a:rPr>
              <a:t>–und Software Design von automatisierten Messsystemen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Automatisierte Qualitätsprüfung für Geräte in Produktion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Bereich Telekommunikationstechnik, HF-Systeme, Sensorik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de-DE" sz="2000" dirty="0">
                <a:solidFill>
                  <a:schemeClr val="bg1"/>
                </a:solidFill>
              </a:rPr>
              <a:t>Programmiersprachen C, C++, C#, Python</a:t>
            </a:r>
            <a:endParaRPr lang="en-US" sz="2000" dirty="0">
              <a:solidFill>
                <a:schemeClr val="bg1"/>
              </a:solidFill>
            </a:endParaRPr>
          </a:p>
          <a:p>
            <a:endParaRPr lang="en-US" sz="2000" dirty="0">
              <a:solidFill>
                <a:schemeClr val="bg1"/>
              </a:solidFill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11AD06B-AB20-4097-8606-5DA00DBACE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4027" y="5707672"/>
            <a:ext cx="4713997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Bildplatzhalter 5" descr="Ein Bild, das Im Haus, Person, Wand, Computer enthält.&#10;&#10;Automatisch generierte Beschreibung">
            <a:extLst>
              <a:ext uri="{FF2B5EF4-FFF2-40B4-BE49-F238E27FC236}">
                <a16:creationId xmlns:a16="http://schemas.microsoft.com/office/drawing/2014/main" id="{D16B0BEC-090C-5776-342C-5979DCB72E8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039" t="43344" r="5558" b="20390"/>
          <a:stretch/>
        </p:blipFill>
        <p:spPr>
          <a:xfrm>
            <a:off x="7345680" y="2235210"/>
            <a:ext cx="3139440" cy="2740061"/>
          </a:xfrm>
          <a:prstGeom prst="rect">
            <a:avLst/>
          </a:prstGeom>
        </p:spPr>
      </p:pic>
      <p:sp>
        <p:nvSpPr>
          <p:cNvPr id="3" name="Rectangle 1">
            <a:extLst>
              <a:ext uri="{FF2B5EF4-FFF2-40B4-BE49-F238E27FC236}">
                <a16:creationId xmlns:a16="http://schemas.microsoft.com/office/drawing/2014/main" id="{1B34700F-EBA0-16DF-1DCF-A057D82A03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Hardware- und Software-Design von automatisierten Messsystemen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Automatisierte Qualitätsprüfung für Geräte in der Produktion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Bereich Telekommunikationstechnik, HF-Systeme und Sensorik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de-DE" altLang="de-DE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Programmiersprachen: C, C++, C#, Python</a:t>
            </a:r>
          </a:p>
        </p:txBody>
      </p:sp>
    </p:spTree>
    <p:extLst>
      <p:ext uri="{BB962C8B-B14F-4D97-AF65-F5344CB8AC3E}">
        <p14:creationId xmlns:p14="http://schemas.microsoft.com/office/powerpoint/2010/main" val="27140490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2EB492CD-616E-47F8-933B-5E2D952A05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1" name="Arc 11">
            <a:extLst>
              <a:ext uri="{FF2B5EF4-FFF2-40B4-BE49-F238E27FC236}">
                <a16:creationId xmlns:a16="http://schemas.microsoft.com/office/drawing/2014/main" id="{59383CF9-23B5-4335-9B21-1791C4CF1C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67198" flipH="1">
            <a:off x="8631348" y="490493"/>
            <a:ext cx="2987899" cy="2987899"/>
          </a:xfrm>
          <a:prstGeom prst="arc">
            <a:avLst>
              <a:gd name="adj1" fmla="val 14441841"/>
              <a:gd name="adj2" fmla="val 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BBAE02-D524-03E5-AD91-B5FDFFD1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4962" y="479493"/>
            <a:ext cx="5458838" cy="1325563"/>
          </a:xfrm>
        </p:spPr>
        <p:txBody>
          <a:bodyPr>
            <a:normAutofit/>
          </a:bodyPr>
          <a:lstStyle/>
          <a:p>
            <a:r>
              <a:rPr lang="en-US"/>
              <a:t>Literatur und Quellen</a:t>
            </a:r>
            <a:endParaRPr lang="de-DE" dirty="0"/>
          </a:p>
        </p:txBody>
      </p:sp>
      <p:sp>
        <p:nvSpPr>
          <p:cNvPr id="22" name="Freeform: Shape 13">
            <a:extLst>
              <a:ext uri="{FF2B5EF4-FFF2-40B4-BE49-F238E27FC236}">
                <a16:creationId xmlns:a16="http://schemas.microsoft.com/office/drawing/2014/main" id="{0007FE00-9498-4706-B255-6437B0252C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5486400"/>
            <a:ext cx="2672863" cy="1371600"/>
          </a:xfrm>
          <a:custGeom>
            <a:avLst/>
            <a:gdLst>
              <a:gd name="connsiteX0" fmla="*/ 1721734 w 2672863"/>
              <a:gd name="connsiteY0" fmla="*/ 0 h 1371600"/>
              <a:gd name="connsiteX1" fmla="*/ 2564444 w 2672863"/>
              <a:gd name="connsiteY1" fmla="*/ 213382 h 1371600"/>
              <a:gd name="connsiteX2" fmla="*/ 2672863 w 2672863"/>
              <a:gd name="connsiteY2" fmla="*/ 279248 h 1371600"/>
              <a:gd name="connsiteX3" fmla="*/ 2672863 w 2672863"/>
              <a:gd name="connsiteY3" fmla="*/ 1371600 h 1371600"/>
              <a:gd name="connsiteX4" fmla="*/ 0 w 2672863"/>
              <a:gd name="connsiteY4" fmla="*/ 1371600 h 1371600"/>
              <a:gd name="connsiteX5" fmla="*/ 33268 w 2672863"/>
              <a:gd name="connsiteY5" fmla="*/ 1242216 h 1371600"/>
              <a:gd name="connsiteX6" fmla="*/ 1721734 w 2672863"/>
              <a:gd name="connsiteY6" fmla="*/ 0 h 137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672863" h="1371600">
                <a:moveTo>
                  <a:pt x="1721734" y="0"/>
                </a:moveTo>
                <a:cubicBezTo>
                  <a:pt x="2026863" y="0"/>
                  <a:pt x="2313937" y="77299"/>
                  <a:pt x="2564444" y="213382"/>
                </a:cubicBezTo>
                <a:lnTo>
                  <a:pt x="2672863" y="279248"/>
                </a:lnTo>
                <a:lnTo>
                  <a:pt x="2672863" y="1371600"/>
                </a:lnTo>
                <a:lnTo>
                  <a:pt x="0" y="1371600"/>
                </a:lnTo>
                <a:lnTo>
                  <a:pt x="33268" y="1242216"/>
                </a:lnTo>
                <a:cubicBezTo>
                  <a:pt x="257110" y="522539"/>
                  <a:pt x="928399" y="0"/>
                  <a:pt x="17217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Grafik 4" descr="Ein Bild, das Text, Grafikdesign, Screenshot, Farbigkeit enthält.&#10;&#10;Automatisch generierte Beschreibung">
            <a:extLst>
              <a:ext uri="{FF2B5EF4-FFF2-40B4-BE49-F238E27FC236}">
                <a16:creationId xmlns:a16="http://schemas.microsoft.com/office/drawing/2014/main" id="{6FEDA03F-3725-6749-081A-7877D6A93D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172" y="511293"/>
            <a:ext cx="4591400" cy="5665670"/>
          </a:xfrm>
          <a:custGeom>
            <a:avLst/>
            <a:gdLst/>
            <a:ahLst/>
            <a:cxnLst/>
            <a:rect l="l" t="t" r="r" b="b"/>
            <a:pathLst>
              <a:path w="4777381" h="5643794">
                <a:moveTo>
                  <a:pt x="143704" y="0"/>
                </a:moveTo>
                <a:lnTo>
                  <a:pt x="4633677" y="0"/>
                </a:lnTo>
                <a:cubicBezTo>
                  <a:pt x="4713043" y="0"/>
                  <a:pt x="4777381" y="64338"/>
                  <a:pt x="4777381" y="143704"/>
                </a:cubicBezTo>
                <a:lnTo>
                  <a:pt x="4777381" y="5500090"/>
                </a:lnTo>
                <a:cubicBezTo>
                  <a:pt x="4777381" y="5579456"/>
                  <a:pt x="4713043" y="5643794"/>
                  <a:pt x="4633677" y="5643794"/>
                </a:cubicBezTo>
                <a:lnTo>
                  <a:pt x="143704" y="5643794"/>
                </a:lnTo>
                <a:cubicBezTo>
                  <a:pt x="64338" y="5643794"/>
                  <a:pt x="0" y="5579456"/>
                  <a:pt x="0" y="5500090"/>
                </a:cubicBezTo>
                <a:lnTo>
                  <a:pt x="0" y="143704"/>
                </a:lnTo>
                <a:cubicBezTo>
                  <a:pt x="0" y="64338"/>
                  <a:pt x="64338" y="0"/>
                  <a:pt x="143704" y="0"/>
                </a:cubicBezTo>
                <a:close/>
              </a:path>
            </a:pathLst>
          </a:custGeom>
        </p:spPr>
      </p:pic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1A010-D642-EBD4-6DC7-2CDAA774A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94962" y="1984443"/>
            <a:ext cx="5458838" cy="4192520"/>
          </a:xfrm>
        </p:spPr>
        <p:txBody>
          <a:bodyPr>
            <a:normAutofit/>
          </a:bodyPr>
          <a:lstStyle/>
          <a:p>
            <a:r>
              <a:rPr lang="en-US" dirty="0"/>
              <a:t>“Mastering Python Design Patterns” – </a:t>
            </a:r>
            <a:r>
              <a:rPr lang="en-US" dirty="0" err="1"/>
              <a:t>Kamon</a:t>
            </a:r>
            <a:r>
              <a:rPr lang="en-US" dirty="0"/>
              <a:t> </a:t>
            </a:r>
            <a:r>
              <a:rPr lang="en-US" dirty="0" err="1"/>
              <a:t>Ayeva</a:t>
            </a:r>
            <a:r>
              <a:rPr lang="en-US" dirty="0"/>
              <a:t>, Sakis </a:t>
            </a:r>
            <a:r>
              <a:rPr lang="en-US" dirty="0" err="1"/>
              <a:t>Kasampalis</a:t>
            </a:r>
            <a:endParaRPr lang="en-US" dirty="0"/>
          </a:p>
          <a:p>
            <a:r>
              <a:rPr lang="en-US" dirty="0"/>
              <a:t>Python </a:t>
            </a:r>
            <a:r>
              <a:rPr lang="en-US" dirty="0" err="1"/>
              <a:t>Handbuch</a:t>
            </a:r>
            <a:r>
              <a:rPr lang="en-US" dirty="0"/>
              <a:t> und </a:t>
            </a:r>
            <a:r>
              <a:rPr lang="en-US" dirty="0" err="1"/>
              <a:t>umfassende</a:t>
            </a:r>
            <a:r>
              <a:rPr lang="en-US" dirty="0"/>
              <a:t> </a:t>
            </a:r>
            <a:r>
              <a:rPr lang="en-US" dirty="0" err="1"/>
              <a:t>Literatur</a:t>
            </a:r>
            <a:endParaRPr lang="en-US" dirty="0"/>
          </a:p>
          <a:p>
            <a:r>
              <a:rPr lang="en-US" dirty="0"/>
              <a:t>Für </a:t>
            </a:r>
            <a:r>
              <a:rPr lang="en-US" dirty="0" err="1"/>
              <a:t>diesen</a:t>
            </a:r>
            <a:r>
              <a:rPr lang="en-US" dirty="0"/>
              <a:t> </a:t>
            </a:r>
            <a:r>
              <a:rPr lang="en-US" dirty="0" err="1"/>
              <a:t>Kurs</a:t>
            </a:r>
            <a:r>
              <a:rPr lang="en-US" dirty="0"/>
              <a:t> </a:t>
            </a:r>
            <a:r>
              <a:rPr lang="en-US" dirty="0" err="1"/>
              <a:t>erstelltes</a:t>
            </a:r>
            <a:r>
              <a:rPr lang="en-US" dirty="0"/>
              <a:t> Material</a:t>
            </a:r>
          </a:p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673431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naloge Wanduhr">
            <a:extLst>
              <a:ext uri="{FF2B5EF4-FFF2-40B4-BE49-F238E27FC236}">
                <a16:creationId xmlns:a16="http://schemas.microsoft.com/office/drawing/2014/main" id="{032D0475-21C9-FFCB-DFAF-2977F397A9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863" r="30676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DBBAE02-D524-03E5-AD91-B5FDFFD10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317" y="405685"/>
            <a:ext cx="5464968" cy="1559301"/>
          </a:xfrm>
        </p:spPr>
        <p:txBody>
          <a:bodyPr>
            <a:normAutofit/>
          </a:bodyPr>
          <a:lstStyle/>
          <a:p>
            <a:r>
              <a:rPr lang="en-US" sz="4000" dirty="0" err="1"/>
              <a:t>Seminarzeiten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511A010-D642-EBD4-6DC7-2CDAA774AB6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8372" y="1680560"/>
            <a:ext cx="5464968" cy="3496878"/>
          </a:xfrm>
        </p:spPr>
        <p:txBody>
          <a:bodyPr anchor="ctr">
            <a:normAutofit/>
          </a:bodyPr>
          <a:lstStyle/>
          <a:p>
            <a:r>
              <a:rPr lang="en-US" sz="3200" dirty="0"/>
              <a:t>9:00 – 17:00 </a:t>
            </a:r>
            <a:r>
              <a:rPr lang="en-US" sz="3200" dirty="0" err="1"/>
              <a:t>Uhr</a:t>
            </a:r>
            <a:endParaRPr lang="en-US" sz="3200" dirty="0"/>
          </a:p>
          <a:p>
            <a:r>
              <a:rPr lang="en-US" sz="3200" dirty="0" err="1"/>
              <a:t>Vormittagspause</a:t>
            </a:r>
            <a:r>
              <a:rPr lang="en-US" sz="3200" dirty="0"/>
              <a:t>: 10:30</a:t>
            </a:r>
          </a:p>
          <a:p>
            <a:r>
              <a:rPr lang="en-US" sz="3200" dirty="0" err="1"/>
              <a:t>Mittagspause</a:t>
            </a:r>
            <a:r>
              <a:rPr lang="en-US" sz="3200" dirty="0"/>
              <a:t>: 12:00 – 13:00</a:t>
            </a:r>
          </a:p>
          <a:p>
            <a:r>
              <a:rPr lang="en-US" sz="3200" dirty="0" err="1"/>
              <a:t>Nachmittagspause</a:t>
            </a:r>
            <a:r>
              <a:rPr lang="en-US" sz="3200" dirty="0"/>
              <a:t>: 14:30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9681325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F7021CF-6FE7-F213-8F36-BA98D97F60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64609" y="2278258"/>
            <a:ext cx="4805996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 kern="1200" dirty="0" err="1">
                <a:solidFill>
                  <a:schemeClr val="tx2"/>
                </a:solidFill>
                <a:latin typeface="+mj-lt"/>
                <a:ea typeface="+mj-ea"/>
                <a:cs typeface="+mj-cs"/>
              </a:rPr>
              <a:t>Inhalt</a:t>
            </a:r>
            <a:endParaRPr lang="en-US" sz="4000" kern="1200" dirty="0">
              <a:solidFill>
                <a:schemeClr val="tx2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7" name="Graphic 6" descr="Prüfliste">
            <a:extLst>
              <a:ext uri="{FF2B5EF4-FFF2-40B4-BE49-F238E27FC236}">
                <a16:creationId xmlns:a16="http://schemas.microsoft.com/office/drawing/2014/main" id="{1830D4E5-432B-081E-5A1E-50D349946D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764101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Eine weiße Oberfläche mit einer 3D-Dreiecksstruktur">
            <a:extLst>
              <a:ext uri="{FF2B5EF4-FFF2-40B4-BE49-F238E27FC236}">
                <a16:creationId xmlns:a16="http://schemas.microsoft.com/office/drawing/2014/main" id="{2E032989-1383-60D8-89E4-36B435B511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7341" b="-2"/>
          <a:stretch>
            <a:fillRect/>
          </a:stretch>
        </p:blipFill>
        <p:spPr>
          <a:xfrm>
            <a:off x="-1" y="0"/>
            <a:ext cx="5410198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0197" y="-1"/>
            <a:ext cx="678180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305" y="405685"/>
            <a:ext cx="11308980" cy="1559301"/>
          </a:xfrm>
        </p:spPr>
        <p:txBody>
          <a:bodyPr>
            <a:normAutofit/>
          </a:bodyPr>
          <a:lstStyle/>
          <a:p>
            <a:r>
              <a:rPr lang="en-US" sz="4000" dirty="0"/>
              <a:t>Ein</a:t>
            </a:r>
            <a:r>
              <a:rPr lang="de-DE" sz="4000" dirty="0" err="1"/>
              <a:t>führung</a:t>
            </a:r>
            <a:r>
              <a:rPr lang="de-DE" sz="4000" dirty="0"/>
              <a:t> in die Python Umgebung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773190"/>
            <a:ext cx="5247340" cy="3496878"/>
          </a:xfrm>
        </p:spPr>
        <p:txBody>
          <a:bodyPr anchor="ctr">
            <a:normAutofit/>
          </a:bodyPr>
          <a:lstStyle/>
          <a:p>
            <a:r>
              <a:rPr lang="de-DE" sz="2400" dirty="0"/>
              <a:t>Warum Python?</a:t>
            </a:r>
          </a:p>
          <a:p>
            <a:r>
              <a:rPr lang="de-DE" sz="2400" dirty="0" err="1"/>
              <a:t>Jupyter</a:t>
            </a:r>
            <a:r>
              <a:rPr lang="de-DE" sz="2400" dirty="0"/>
              <a:t> Notebooks</a:t>
            </a:r>
          </a:p>
          <a:p>
            <a:r>
              <a:rPr lang="de-DE" sz="2400" dirty="0"/>
              <a:t>Visual Studio Code</a:t>
            </a:r>
          </a:p>
          <a:p>
            <a:r>
              <a:rPr lang="de-DE" sz="2400" dirty="0"/>
              <a:t>Import von Packages und Bibliotheken</a:t>
            </a:r>
          </a:p>
          <a:p>
            <a:r>
              <a:rPr lang="de-DE" sz="2400" dirty="0" err="1"/>
              <a:t>Anaconda</a:t>
            </a:r>
            <a:r>
              <a:rPr lang="de-DE" sz="2400" dirty="0"/>
              <a:t> Distribution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7331158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ine weiße Oberfläche mit einer 3D-Dreiecksstruktur">
            <a:extLst>
              <a:ext uri="{FF2B5EF4-FFF2-40B4-BE49-F238E27FC236}">
                <a16:creationId xmlns:a16="http://schemas.microsoft.com/office/drawing/2014/main" id="{2E032989-1383-60D8-89E4-36B435B5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3191" y="405685"/>
            <a:ext cx="10917094" cy="1559301"/>
          </a:xfrm>
        </p:spPr>
        <p:txBody>
          <a:bodyPr>
            <a:normAutofit/>
          </a:bodyPr>
          <a:lstStyle/>
          <a:p>
            <a:r>
              <a:rPr lang="en-US" sz="4000" dirty="0" err="1"/>
              <a:t>Grundlegende</a:t>
            </a:r>
            <a:r>
              <a:rPr lang="en-US" sz="4000" dirty="0"/>
              <a:t> </a:t>
            </a:r>
            <a:r>
              <a:rPr lang="en-US" sz="4000" dirty="0" err="1"/>
              <a:t>Konstrukte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1805940"/>
            <a:ext cx="5247340" cy="3496878"/>
          </a:xfrm>
        </p:spPr>
        <p:txBody>
          <a:bodyPr anchor="ctr">
            <a:normAutofit/>
          </a:bodyPr>
          <a:lstStyle/>
          <a:p>
            <a:r>
              <a:rPr lang="de-DE" sz="2400" dirty="0"/>
              <a:t>Logische Vergleiche / Beziehungsoperationen</a:t>
            </a:r>
          </a:p>
          <a:p>
            <a:r>
              <a:rPr lang="de-DE" sz="2400" dirty="0"/>
              <a:t>Fallunterscheidungen</a:t>
            </a:r>
          </a:p>
          <a:p>
            <a:r>
              <a:rPr lang="de-DE" sz="2400" dirty="0" err="1"/>
              <a:t>Schleifenkonstrukte</a:t>
            </a:r>
            <a:endParaRPr lang="de-DE" sz="2400" dirty="0"/>
          </a:p>
          <a:p>
            <a:r>
              <a:rPr lang="de-DE" sz="2400" dirty="0"/>
              <a:t>Funktionsaufrufe</a:t>
            </a:r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38513980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ine weiße Oberfläche mit einer 3D-Dreiecksstruktur">
            <a:extLst>
              <a:ext uri="{FF2B5EF4-FFF2-40B4-BE49-F238E27FC236}">
                <a16:creationId xmlns:a16="http://schemas.microsoft.com/office/drawing/2014/main" id="{2E032989-1383-60D8-89E4-36B435B5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7976" y="405685"/>
            <a:ext cx="10712309" cy="1559301"/>
          </a:xfrm>
        </p:spPr>
        <p:txBody>
          <a:bodyPr>
            <a:normAutofit/>
          </a:bodyPr>
          <a:lstStyle/>
          <a:p>
            <a:r>
              <a:rPr lang="en-US" sz="4000" dirty="0" err="1"/>
              <a:t>Verarbeitung</a:t>
            </a:r>
            <a:r>
              <a:rPr lang="en-US" sz="4000" dirty="0"/>
              <a:t> von </a:t>
            </a:r>
            <a:r>
              <a:rPr lang="en-US" sz="4000" dirty="0" err="1"/>
              <a:t>Daten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76684" y="1680560"/>
            <a:ext cx="5247340" cy="3496878"/>
          </a:xfrm>
        </p:spPr>
        <p:txBody>
          <a:bodyPr anchor="ctr">
            <a:normAutofit/>
          </a:bodyPr>
          <a:lstStyle/>
          <a:p>
            <a:r>
              <a:rPr lang="de-DE" sz="2400" dirty="0"/>
              <a:t>Datenimport</a:t>
            </a:r>
          </a:p>
          <a:p>
            <a:r>
              <a:rPr lang="de-DE" sz="2400" dirty="0"/>
              <a:t>Dateneinbindung (Datentypen)</a:t>
            </a:r>
          </a:p>
          <a:p>
            <a:r>
              <a:rPr lang="de-DE" sz="2400" dirty="0"/>
              <a:t>Datenaufarbeitung</a:t>
            </a:r>
          </a:p>
          <a:p>
            <a:r>
              <a:rPr lang="de-DE" sz="2400" dirty="0"/>
              <a:t>Datenverarbeitung mit </a:t>
            </a:r>
            <a:r>
              <a:rPr lang="de-DE" sz="2400" dirty="0" err="1"/>
              <a:t>Numpy</a:t>
            </a:r>
            <a:endParaRPr lang="de-DE" sz="2400" dirty="0"/>
          </a:p>
          <a:p>
            <a:r>
              <a:rPr lang="de-DE" sz="2400" dirty="0"/>
              <a:t>Datenauswertungen mit </a:t>
            </a:r>
            <a:r>
              <a:rPr lang="de-DE" sz="2400" dirty="0" err="1"/>
              <a:t>SciPy</a:t>
            </a:r>
            <a:endParaRPr lang="de-DE" sz="2400" dirty="0"/>
          </a:p>
          <a:p>
            <a:r>
              <a:rPr lang="de-DE" sz="2400" dirty="0"/>
              <a:t>Datenvisualisierung mit </a:t>
            </a:r>
            <a:r>
              <a:rPr lang="de-DE" sz="2400" dirty="0" err="1"/>
              <a:t>Matplotlib</a:t>
            </a:r>
            <a:endParaRPr lang="de-DE" sz="2400" dirty="0"/>
          </a:p>
          <a:p>
            <a:endParaRPr lang="de-DE" sz="2000" dirty="0"/>
          </a:p>
        </p:txBody>
      </p:sp>
    </p:spTree>
    <p:extLst>
      <p:ext uri="{BB962C8B-B14F-4D97-AF65-F5344CB8AC3E}">
        <p14:creationId xmlns:p14="http://schemas.microsoft.com/office/powerpoint/2010/main" val="1075064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ine weiße Oberfläche mit einer 3D-Dreiecksstruktur">
            <a:extLst>
              <a:ext uri="{FF2B5EF4-FFF2-40B4-BE49-F238E27FC236}">
                <a16:creationId xmlns:a16="http://schemas.microsoft.com/office/drawing/2014/main" id="{2E032989-1383-60D8-89E4-36B435B5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84" y="405685"/>
            <a:ext cx="10565401" cy="1559301"/>
          </a:xfrm>
        </p:spPr>
        <p:txBody>
          <a:bodyPr>
            <a:normAutofit/>
          </a:bodyPr>
          <a:lstStyle/>
          <a:p>
            <a:r>
              <a:rPr lang="en-US" sz="4000" dirty="0" err="1"/>
              <a:t>Programmiertechniken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1838960"/>
            <a:ext cx="5247340" cy="3496878"/>
          </a:xfrm>
        </p:spPr>
        <p:txBody>
          <a:bodyPr anchor="ctr">
            <a:normAutofit/>
          </a:bodyPr>
          <a:lstStyle/>
          <a:p>
            <a:r>
              <a:rPr lang="de-DE" sz="2400" dirty="0"/>
              <a:t>Debugging</a:t>
            </a:r>
          </a:p>
          <a:p>
            <a:r>
              <a:rPr lang="de-DE" sz="2400" dirty="0"/>
              <a:t>Objektorientierte Programmierung</a:t>
            </a:r>
          </a:p>
          <a:p>
            <a:r>
              <a:rPr lang="de-DE" sz="2400" dirty="0"/>
              <a:t>Effizientes Programmieren (Best Practices und Einführung in Design Patterns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38559171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ine weiße Oberfläche mit einer 3D-Dreiecksstruktur">
            <a:extLst>
              <a:ext uri="{FF2B5EF4-FFF2-40B4-BE49-F238E27FC236}">
                <a16:creationId xmlns:a16="http://schemas.microsoft.com/office/drawing/2014/main" id="{2E032989-1383-60D8-89E4-36B435B5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-1" y="-2"/>
            <a:ext cx="5410198" cy="68580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884" y="405685"/>
            <a:ext cx="10565401" cy="1559301"/>
          </a:xfrm>
        </p:spPr>
        <p:txBody>
          <a:bodyPr>
            <a:normAutofit/>
          </a:bodyPr>
          <a:lstStyle/>
          <a:p>
            <a:r>
              <a:rPr lang="en-US" sz="4000" dirty="0" err="1"/>
              <a:t>Erweiterte</a:t>
            </a:r>
            <a:r>
              <a:rPr lang="en-US" sz="4000" dirty="0"/>
              <a:t> </a:t>
            </a:r>
            <a:r>
              <a:rPr lang="en-US" sz="4000" dirty="0" err="1"/>
              <a:t>Themen</a:t>
            </a:r>
            <a:r>
              <a:rPr lang="en-US" sz="4000" dirty="0"/>
              <a:t> </a:t>
            </a:r>
            <a:r>
              <a:rPr lang="en-US" sz="4000" dirty="0" err="1"/>
              <a:t>nach</a:t>
            </a:r>
            <a:r>
              <a:rPr lang="en-US" sz="4000" dirty="0"/>
              <a:t> </a:t>
            </a:r>
            <a:r>
              <a:rPr lang="en-US" sz="4000" dirty="0" err="1"/>
              <a:t>Anfrage</a:t>
            </a:r>
            <a:endParaRPr lang="de-DE" sz="40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4D8C02-4A09-A92A-46EE-44E2E9423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15317" y="1838960"/>
            <a:ext cx="5247340" cy="3496878"/>
          </a:xfrm>
        </p:spPr>
        <p:txBody>
          <a:bodyPr anchor="ctr">
            <a:normAutofit/>
          </a:bodyPr>
          <a:lstStyle/>
          <a:p>
            <a:r>
              <a:rPr lang="de-DE" sz="2400" dirty="0"/>
              <a:t>Umstieg von MATLAB auf Python</a:t>
            </a:r>
          </a:p>
          <a:p>
            <a:r>
              <a:rPr lang="de-DE" sz="2400" dirty="0" err="1"/>
              <a:t>Logging</a:t>
            </a:r>
            <a:r>
              <a:rPr lang="de-DE" sz="2400" dirty="0"/>
              <a:t> – Erweitert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9727627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ine weiße Oberfläche mit einer 3D-Dreiecksstruktur">
            <a:extLst>
              <a:ext uri="{FF2B5EF4-FFF2-40B4-BE49-F238E27FC236}">
                <a16:creationId xmlns:a16="http://schemas.microsoft.com/office/drawing/2014/main" id="{2E032989-1383-60D8-89E4-36B435B5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0" y="0"/>
            <a:ext cx="5410198" cy="68580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5685"/>
            <a:ext cx="10742085" cy="1559301"/>
          </a:xfrm>
        </p:spPr>
        <p:txBody>
          <a:bodyPr>
            <a:normAutofit/>
          </a:bodyPr>
          <a:lstStyle/>
          <a:p>
            <a:r>
              <a:rPr lang="en-US" sz="4000" dirty="0"/>
              <a:t>Zu den </a:t>
            </a:r>
            <a:r>
              <a:rPr lang="en-US" sz="4000" dirty="0" err="1"/>
              <a:t>Übungen</a:t>
            </a:r>
            <a:r>
              <a:rPr lang="en-US" sz="4000" dirty="0"/>
              <a:t> / Workshops</a:t>
            </a:r>
            <a:endParaRPr lang="de-DE" sz="400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48D7D67-CA5F-DB87-0E0C-E9275CA3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900" dirty="0"/>
              <a:t>Theorie und Übungen: 15-20 Minuten</a:t>
            </a:r>
          </a:p>
          <a:p>
            <a:r>
              <a:rPr lang="de-DE" sz="2900" dirty="0"/>
              <a:t>Hilfsmittel zur Verfügung: </a:t>
            </a:r>
          </a:p>
          <a:p>
            <a:pPr lvl="1"/>
            <a:r>
              <a:rPr lang="de-DE" sz="2500" dirty="0"/>
              <a:t>Python </a:t>
            </a:r>
            <a:r>
              <a:rPr lang="de-DE" sz="2500" dirty="0" err="1"/>
              <a:t>Know-How</a:t>
            </a:r>
            <a:r>
              <a:rPr lang="de-DE" sz="2500" dirty="0"/>
              <a:t>. Tutorials. Dateien, Notebooks. Euer Coach.</a:t>
            </a:r>
          </a:p>
          <a:p>
            <a:r>
              <a:rPr lang="de-DE" sz="2900" b="1" dirty="0"/>
              <a:t>Format aller Übungen:</a:t>
            </a:r>
          </a:p>
          <a:p>
            <a:pPr lvl="1"/>
            <a:r>
              <a:rPr lang="de-DE" dirty="0"/>
              <a:t>Ausgangssituation mit Hilfe-Code.</a:t>
            </a:r>
          </a:p>
          <a:p>
            <a:pPr lvl="1"/>
            <a:r>
              <a:rPr lang="de-DE" dirty="0"/>
              <a:t>Besprechung der Lösung am Ende jeder Aufgabe.</a:t>
            </a:r>
          </a:p>
        </p:txBody>
      </p:sp>
    </p:spTree>
    <p:extLst>
      <p:ext uri="{BB962C8B-B14F-4D97-AF65-F5344CB8AC3E}">
        <p14:creationId xmlns:p14="http://schemas.microsoft.com/office/powerpoint/2010/main" val="241871507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Eine weiße Oberfläche mit einer 3D-Dreiecksstruktur">
            <a:extLst>
              <a:ext uri="{FF2B5EF4-FFF2-40B4-BE49-F238E27FC236}">
                <a16:creationId xmlns:a16="http://schemas.microsoft.com/office/drawing/2014/main" id="{2E032989-1383-60D8-89E4-36B435B511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7341" b="-2"/>
          <a:stretch>
            <a:fillRect/>
          </a:stretch>
        </p:blipFill>
        <p:spPr>
          <a:xfrm>
            <a:off x="0" y="0"/>
            <a:ext cx="5410198" cy="685800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8CFD78E6-BA02-5E58-62D6-3C42CB875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05685"/>
            <a:ext cx="10742085" cy="1559301"/>
          </a:xfrm>
        </p:spPr>
        <p:txBody>
          <a:bodyPr>
            <a:normAutofit/>
          </a:bodyPr>
          <a:lstStyle/>
          <a:p>
            <a:r>
              <a:rPr lang="en-US" sz="4000" dirty="0" err="1"/>
              <a:t>Fragen</a:t>
            </a:r>
            <a:r>
              <a:rPr lang="en-US" sz="4000" dirty="0"/>
              <a:t> </a:t>
            </a:r>
            <a:r>
              <a:rPr lang="en-US" sz="4000" dirty="0" err="1"/>
              <a:t>während</a:t>
            </a:r>
            <a:r>
              <a:rPr lang="en-US" sz="4000" dirty="0"/>
              <a:t> Live-Code Sessions</a:t>
            </a:r>
            <a:endParaRPr lang="de-DE" sz="4000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48D7D67-CA5F-DB87-0E0C-E9275CA3AF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endParaRPr lang="de-DE" sz="2900" dirty="0"/>
          </a:p>
          <a:p>
            <a:r>
              <a:rPr lang="de-DE" sz="2400" i="1" dirty="0"/>
              <a:t>„Schnelle“ Fragen (1–2 Minuten) – „lange“ Fragen:</a:t>
            </a:r>
            <a:br>
              <a:rPr lang="de-DE" sz="2400" dirty="0"/>
            </a:br>
            <a:r>
              <a:rPr lang="de-DE" sz="2400" dirty="0"/>
              <a:t>Fragen, die eine genauere Erklärung oder Demonstration erfordern, kommen in den Fragenpool. Diese werden am Ende des Kapitels oder vor Beginn des nächsten beantwortet.</a:t>
            </a:r>
            <a:br>
              <a:rPr lang="de-DE" sz="2400" dirty="0"/>
            </a:br>
            <a:endParaRPr lang="de-DE" sz="2400" dirty="0"/>
          </a:p>
          <a:p>
            <a:r>
              <a:rPr lang="de-DE" sz="2400" dirty="0"/>
              <a:t>Aber keine Sorge — meistens bemühe ich mich, sie direkt zu beantworten, wenn es möglich ist.</a:t>
            </a:r>
            <a:endParaRPr lang="de-DE" sz="3200" dirty="0"/>
          </a:p>
        </p:txBody>
      </p:sp>
    </p:spTree>
    <p:extLst>
      <p:ext uri="{BB962C8B-B14F-4D97-AF65-F5344CB8AC3E}">
        <p14:creationId xmlns:p14="http://schemas.microsoft.com/office/powerpoint/2010/main" val="23634549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310</Words>
  <Application>Microsoft Office PowerPoint</Application>
  <PresentationFormat>Breitbild</PresentationFormat>
  <Paragraphs>61</Paragraphs>
  <Slides>13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Calibri</vt:lpstr>
      <vt:lpstr>Office</vt:lpstr>
      <vt:lpstr>Python Design Patterns</vt:lpstr>
      <vt:lpstr>Euer Trainer</vt:lpstr>
      <vt:lpstr>Euer Trainer</vt:lpstr>
      <vt:lpstr>Literatur und Quellen</vt:lpstr>
      <vt:lpstr>Seminarzeiten</vt:lpstr>
      <vt:lpstr>Inhalt</vt:lpstr>
      <vt:lpstr>Einführung in die Python Umgebung</vt:lpstr>
      <vt:lpstr>Grundlegende Konstrukte</vt:lpstr>
      <vt:lpstr>Verarbeitung von Daten</vt:lpstr>
      <vt:lpstr>Programmiertechniken</vt:lpstr>
      <vt:lpstr>Erweiterte Themen nach Anfrage</vt:lpstr>
      <vt:lpstr>Zu den Übungen / Workshops</vt:lpstr>
      <vt:lpstr>Fragen während Live-Code Sessions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Satzke</dc:creator>
  <cp:lastModifiedBy>Adam Satzke</cp:lastModifiedBy>
  <cp:revision>64</cp:revision>
  <dcterms:created xsi:type="dcterms:W3CDTF">2025-10-17T08:05:54Z</dcterms:created>
  <dcterms:modified xsi:type="dcterms:W3CDTF">2026-03-15T23:39:41Z</dcterms:modified>
</cp:coreProperties>
</file>